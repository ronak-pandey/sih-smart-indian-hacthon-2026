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611"/>
    <a:srgbClr val="98A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269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1F-475D-AA23-22F21F9C0868}"/>
              </c:ext>
            </c:extLst>
          </c:dPt>
          <c:dPt>
            <c:idx val="1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1F-475D-AA23-22F21F9C0868}"/>
              </c:ext>
            </c:extLst>
          </c:dPt>
          <c:dPt>
            <c:idx val="2"/>
            <c:bubble3D val="0"/>
            <c:spPr>
              <a:solidFill>
                <a:srgbClr val="123B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1F-475D-AA23-22F21F9C0868}"/>
              </c:ext>
            </c:extLst>
          </c:dPt>
          <c:dPt>
            <c:idx val="3"/>
            <c:bubble3D val="0"/>
            <c:spPr>
              <a:solidFill>
                <a:srgbClr val="1786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C1F-475D-AA23-22F21F9C0868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1F-475D-AA23-22F21F9C0868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1F-475D-AA23-22F21F9C0868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1F-475D-AA23-22F21F9C0868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1F-475D-AA23-22F21F9C0868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Rural access &amp; connectivity</c:v>
                </c:pt>
                <c:pt idx="1">
                  <c:v>Staff adoption &amp; training</c:v>
                </c:pt>
                <c:pt idx="2">
                  <c:v>Data privacy &amp; compliance</c:v>
                </c:pt>
                <c:pt idx="3">
                  <c:v>Surge scale / load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C1F-475D-AA23-22F21F9C0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44464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922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SmartCare - SIH 2026, Team Quantum Coders. PS SIH26133. Fill in the Team ID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Three-part story: what is broken, what SmartCare does, why nobody else closes the citizen-to-payroll loop. The zero-smartphone tile is the rural access answer - say clearly it is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on the left, the citizen journey on the right. Step 1A is the rural entry path - state plainly that it is Phase 2, designed but not yet built. The priority formula is real code in backend/services/queue_engine/priority.py.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every risk with a mitigation that is already coded - except the rural access tier, which is designed and specified but Phase 2. Say so before a judge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Kamla Devi's story out loud - it is the most memorable thirty seconds in the deck and it pre-empts the rural access question judges always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running repository and offer the 60-second live loop on the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h_icon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7818120" y="1417320"/>
            <a:ext cx="3200400" cy="3739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20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800" dirty="0"/>
          </a:p>
        </p:txBody>
      </p:sp>
      <p:pic>
        <p:nvPicPr>
          <p:cNvPr id="4" name="Image 1" descr="si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09728"/>
            <a:ext cx="603504" cy="70549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902952" y="91440"/>
            <a:ext cx="2011680" cy="76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2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2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2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2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566928" y="1655064"/>
            <a:ext cx="100584" cy="100584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22960" y="148132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</a:t>
            </a:r>
            <a:r>
              <a:rPr lang="en-US" sz="17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SIH26133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66928" y="2404872"/>
            <a:ext cx="100584" cy="100584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223113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 </a:t>
            </a:r>
            <a:r>
              <a:rPr lang="en-US" sz="17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 Queue and Healthcare Management System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66928" y="3154680"/>
            <a:ext cx="100584" cy="100584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22960" y="2980944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– </a:t>
            </a:r>
            <a:r>
              <a:rPr lang="en-US" sz="17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BioTech / HealthTech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66928" y="3904488"/>
            <a:ext cx="100584" cy="100584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2960" y="373075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– </a:t>
            </a:r>
            <a:r>
              <a:rPr lang="en-US" sz="17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66928" y="4654296"/>
            <a:ext cx="100584" cy="100584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2960" y="44805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</a:t>
            </a:r>
            <a:r>
              <a:rPr lang="en-US" sz="17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700" b="1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–S-B1-033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66928" y="5404104"/>
            <a:ext cx="100584" cy="100584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" y="523036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 </a:t>
            </a:r>
            <a:r>
              <a:rPr lang="en-US" sz="17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Coders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"/>
            <a:ext cx="1572768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5B4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12801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188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SmartCare — Idea, Solution &amp; Uniqueness</a:t>
            </a:r>
            <a:endParaRPr lang="en-US" sz="2500" dirty="0"/>
          </a:p>
        </p:txBody>
      </p:sp>
      <p:pic>
        <p:nvPicPr>
          <p:cNvPr id="5" name="Image 0" descr="si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28016"/>
            <a:ext cx="484632" cy="5665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66960" y="109728"/>
            <a:ext cx="2011680" cy="621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144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26187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 is an AI-driven OPD queue, triage and hospital load-balancing platform for the Ministry of Health &amp; Family Welfare. It unifies Citizens, Doctors, Turnstile Gate Security and Government Vigilance Observers on one real-time synchronised system — killing physical queues, blocking queue-jumping, guaranteeing emergency fast-tracking, and tying doctor payout to citizen-verified performance.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DF3E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" y="2130552"/>
            <a:ext cx="274320" cy="274320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87552" y="20939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450592"/>
            <a:ext cx="31272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Hours-long unmanaged physical OPD queues in government hospitals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tooling for doctors to pace and control patient flow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government visibility on hospital load or doctor conduct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“Ghost tokens” and queue-jumping go completely undetected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citizens without smartphones are shut out of every digital queue system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19659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1F5F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62272" y="2130552"/>
            <a:ext cx="274320" cy="274320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28032" y="20939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4553712" y="2450592"/>
            <a:ext cx="31272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assigns ESI acuity and auto-routes to the right department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SHA-256 QR pass, cryptographically verified at the turnstile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sync across Patient, Doctor and Government consoles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rating → Doctor Performance Index → automatic salary bonus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IVR entry auto-enqueues feature-phone citizens (Phase 2)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38160" y="19659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0F7F3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02752" y="2130552"/>
            <a:ext cx="274320" cy="274320"/>
          </a:xfrm>
          <a:prstGeom prst="ellipse">
            <a:avLst/>
          </a:prstGeom>
          <a:solidFill>
            <a:srgbClr val="17864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68512" y="20939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394192" y="2450592"/>
            <a:ext cx="31272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full citizen-to-payroll accountability loop — rating moves real money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Anti-ghost cryptographic gate ingress, not just online booking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6-key Supabase pool + offline fallback keeps rural hospitals running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Indian languages with symptom-card triage — no typing required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smartphone at all — SMS, IVR or assisted counter entry (Phase 2)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9377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94360" y="5029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+ 1</a:t>
            </a:r>
            <a:endParaRPr lang="en-US" sz="25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552297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portals plus a native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turnstile client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337560" y="49377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3474720" y="5029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500" dirty="0"/>
          </a:p>
        </p:txBody>
      </p:sp>
      <p:sp>
        <p:nvSpPr>
          <p:cNvPr id="26" name="Text 23"/>
          <p:cNvSpPr txBox="1"/>
          <p:nvPr/>
        </p:nvSpPr>
        <p:spPr>
          <a:xfrm>
            <a:off x="3474720" y="552297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 supported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citizen portal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217920" y="49377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355080" y="5029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552297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dynamic QR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passes, single-use only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9098280" y="49377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9235440" y="5029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500" dirty="0"/>
          </a:p>
        </p:txBody>
      </p:sp>
      <p:sp>
        <p:nvSpPr>
          <p:cNvPr id="32" name="Text 29"/>
          <p:cNvSpPr txBox="1"/>
          <p:nvPr/>
        </p:nvSpPr>
        <p:spPr>
          <a:xfrm>
            <a:off x="9235440" y="552297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needed — SMS,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or counter entry works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10927080" y="5029200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927080" y="50292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4023360" y="64830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1155680" y="64830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"/>
            <a:ext cx="1572768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5B4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12801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188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 &amp; PROCESS WORKFLOW</a:t>
            </a:r>
            <a:endParaRPr lang="en-US" sz="2200" dirty="0"/>
          </a:p>
        </p:txBody>
      </p:sp>
      <p:pic>
        <p:nvPicPr>
          <p:cNvPr id="5" name="Image 0" descr="si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28016"/>
            <a:ext cx="484632" cy="5665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66960" y="109728"/>
            <a:ext cx="2011680" cy="621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80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207008"/>
            <a:ext cx="5760720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325880"/>
            <a:ext cx="5358384" cy="329184"/>
          </a:xfrm>
          <a:prstGeom prst="roundRect">
            <a:avLst>
              <a:gd name="adj" fmla="val 16667"/>
            </a:avLst>
          </a:prstGeom>
          <a:solidFill>
            <a:srgbClr val="F1F5FA"/>
          </a:solidFill>
          <a:ln w="13970">
            <a:solidFill>
              <a:srgbClr val="123B6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1371600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India  ·  MoHFW  ·  National Health Portal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328416" y="1655064"/>
            <a:ext cx="20117" cy="146304"/>
          </a:xfrm>
          <a:prstGeom prst="rect">
            <a:avLst/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801368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123B6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1847088"/>
            <a:ext cx="1581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Patient Portal</a:t>
            </a:r>
            <a:endParaRPr lang="en-US" sz="92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2157984"/>
            <a:ext cx="1581912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80"/>
              </a:lnSpc>
              <a:buNone/>
            </a:pPr>
            <a:r>
              <a:rPr lang="en-US" sz="7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:5173  React + TS</a:t>
            </a:r>
            <a:endParaRPr lang="en-US" sz="760" dirty="0"/>
          </a:p>
          <a:p>
            <a:pPr marL="0" indent="0" algn="ctr">
              <a:lnSpc>
                <a:spcPts val="880"/>
              </a:lnSpc>
              <a:buNone/>
            </a:pPr>
            <a:r>
              <a:rPr lang="en-US" sz="7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languages · QR pass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2487168" y="1801368"/>
            <a:ext cx="1700784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42032" y="1847088"/>
            <a:ext cx="1591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Doctor Console</a:t>
            </a:r>
            <a:endParaRPr lang="en-US" sz="920" dirty="0"/>
          </a:p>
        </p:txBody>
      </p:sp>
      <p:sp>
        <p:nvSpPr>
          <p:cNvPr id="17" name="Text 14"/>
          <p:cNvSpPr txBox="1"/>
          <p:nvPr/>
        </p:nvSpPr>
        <p:spPr>
          <a:xfrm>
            <a:off x="2542032" y="2157984"/>
            <a:ext cx="1591056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80"/>
              </a:lnSpc>
              <a:buNone/>
            </a:pPr>
            <a:r>
              <a:rPr lang="en-US" sz="7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:5174  Calling desk</a:t>
            </a:r>
            <a:endParaRPr lang="en-US" sz="760" dirty="0"/>
          </a:p>
          <a:p>
            <a:pPr marL="0" indent="0" algn="ctr">
              <a:lnSpc>
                <a:spcPts val="880"/>
              </a:lnSpc>
              <a:buNone/>
            </a:pPr>
            <a:r>
              <a:rPr lang="en-US" sz="7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· Lab · EMR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4325112" y="1801368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1786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79976" y="1847088"/>
            <a:ext cx="1581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17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Vigilance Console</a:t>
            </a:r>
            <a:endParaRPr lang="en-US" sz="920" dirty="0"/>
          </a:p>
        </p:txBody>
      </p:sp>
      <p:sp>
        <p:nvSpPr>
          <p:cNvPr id="20" name="Text 17"/>
          <p:cNvSpPr txBox="1"/>
          <p:nvPr/>
        </p:nvSpPr>
        <p:spPr>
          <a:xfrm>
            <a:off x="4379976" y="2157984"/>
            <a:ext cx="1581912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80"/>
              </a:lnSpc>
              <a:buNone/>
            </a:pPr>
            <a:r>
              <a:rPr lang="en-US" sz="7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:5175  DPI · Bonus</a:t>
            </a:r>
            <a:endParaRPr lang="en-US" sz="760" dirty="0"/>
          </a:p>
          <a:p>
            <a:pPr marL="0" indent="0" algn="ctr">
              <a:lnSpc>
                <a:spcPts val="880"/>
              </a:lnSpc>
              <a:buNone/>
            </a:pPr>
            <a:r>
              <a:rPr lang="en-US" sz="7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· Grievances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2487168" y="2651760"/>
            <a:ext cx="1700784" cy="384048"/>
          </a:xfrm>
          <a:prstGeom prst="roundRect">
            <a:avLst>
              <a:gd name="adj" fmla="val 14286"/>
            </a:avLst>
          </a:prstGeom>
          <a:solidFill>
            <a:srgbClr val="FDF3EA"/>
          </a:solidFill>
          <a:ln w="13970">
            <a:solidFill>
              <a:srgbClr val="D269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542032" y="269748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QR Turnstile Scanner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658368" y="2651760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FDF3EA"/>
          </a:solidFill>
          <a:ln w="6350">
            <a:solidFill>
              <a:srgbClr val="D269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" y="265176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2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IVR Gateway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1609344" y="273405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09344" y="27340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4325112" y="2651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40" i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phone SMS or IVR call</a:t>
            </a:r>
            <a:endParaRPr lang="en-US" sz="740" dirty="0"/>
          </a:p>
          <a:p>
            <a:pPr marL="0" indent="0" algn="ctr">
              <a:lnSpc>
                <a:spcPts val="900"/>
              </a:lnSpc>
              <a:buNone/>
            </a:pPr>
            <a:r>
              <a:rPr lang="en-US" sz="740" i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the same triage API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3328416" y="3035808"/>
            <a:ext cx="20117" cy="146304"/>
          </a:xfrm>
          <a:prstGeom prst="rect">
            <a:avLst/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3182112"/>
            <a:ext cx="5358384" cy="4572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 w="13970">
            <a:solidFill>
              <a:srgbClr val="1F6FC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3232" y="3227832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Core  (:8000)</a:t>
            </a:r>
            <a:endParaRPr lang="en-US" sz="920" dirty="0"/>
          </a:p>
        </p:txBody>
      </p:sp>
      <p:sp>
        <p:nvSpPr>
          <p:cNvPr id="31" name="Text 28"/>
          <p:cNvSpPr txBox="1"/>
          <p:nvPr/>
        </p:nvSpPr>
        <p:spPr>
          <a:xfrm>
            <a:off x="713232" y="3410712"/>
            <a:ext cx="52486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80"/>
              </a:lnSpc>
              <a:buNone/>
            </a:pPr>
            <a:r>
              <a:rPr lang="en-US" sz="7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broker · SHA-256 QR validator · AI triage engine · key-pool manager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3328416" y="3639312"/>
            <a:ext cx="20117" cy="128016"/>
          </a:xfrm>
          <a:prstGeom prst="rect">
            <a:avLst/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" y="3767328"/>
            <a:ext cx="5358384" cy="411480"/>
          </a:xfrm>
          <a:prstGeom prst="roundRect">
            <a:avLst>
              <a:gd name="adj" fmla="val 13333"/>
            </a:avLst>
          </a:prstGeom>
          <a:solidFill>
            <a:srgbClr val="F1F5FA"/>
          </a:solidFill>
          <a:ln w="13970">
            <a:solidFill>
              <a:srgbClr val="123B6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13232" y="3813048"/>
            <a:ext cx="52486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92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Multi-Key Pool  (PostgreSQL + RLS)</a:t>
            </a:r>
            <a:endParaRPr lang="en-US" sz="920" dirty="0"/>
          </a:p>
        </p:txBody>
      </p:sp>
      <p:sp>
        <p:nvSpPr>
          <p:cNvPr id="35" name="Text 32"/>
          <p:cNvSpPr txBox="1"/>
          <p:nvPr/>
        </p:nvSpPr>
        <p:spPr>
          <a:xfrm>
            <a:off x="713232" y="3973068"/>
            <a:ext cx="524865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80"/>
              </a:lnSpc>
              <a:buNone/>
            </a:pPr>
            <a:r>
              <a:rPr lang="en-US" sz="7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· Doctor · Observer · Scanner isolated key chains</a:t>
            </a:r>
            <a:endParaRPr lang="en-US" sz="760" dirty="0"/>
          </a:p>
        </p:txBody>
      </p:sp>
      <p:sp>
        <p:nvSpPr>
          <p:cNvPr id="36" name="Text 33"/>
          <p:cNvSpPr txBox="1"/>
          <p:nvPr/>
        </p:nvSpPr>
        <p:spPr>
          <a:xfrm>
            <a:off x="6492240" y="896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80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WORKFLOW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492240" y="1207008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601968" y="1307592"/>
            <a:ext cx="256032" cy="256032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601968" y="1307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949440" y="12618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Triage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8211312" y="124358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taps symptom cards in any of 11 languages; the NLP engine sets ESI acuity and department.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6492240" y="1728216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DF3E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601968" y="1828800"/>
            <a:ext cx="256032" cy="256032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601968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6949440" y="17830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IVR Entry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8211312" y="1764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smartphone: an SMS shortcode or toll-free IVR call in the local language auto-enqueues the citizen.</a:t>
            </a:r>
            <a:endParaRPr lang="en-US" sz="820" dirty="0"/>
          </a:p>
        </p:txBody>
      </p:sp>
      <p:sp>
        <p:nvSpPr>
          <p:cNvPr id="47" name="Shape 44"/>
          <p:cNvSpPr/>
          <p:nvPr/>
        </p:nvSpPr>
        <p:spPr>
          <a:xfrm>
            <a:off x="10972800" y="1856232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972800" y="18562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6492240" y="2249424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601968" y="2350008"/>
            <a:ext cx="256032" cy="256032"/>
          </a:xfrm>
          <a:prstGeom prst="ellipse">
            <a:avLst/>
          </a:prstGeom>
          <a:solidFill>
            <a:srgbClr val="1F6FC5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601968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52" name="Text 49"/>
          <p:cNvSpPr txBox="1"/>
          <p:nvPr/>
        </p:nvSpPr>
        <p:spPr>
          <a:xfrm>
            <a:off x="6949440" y="23042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211312" y="2286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SHA-256 QR OPD pass is generated and ranked by the live priority score.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6492240" y="2770632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601968" y="2871216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6601968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6949440" y="28254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Ingress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280720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Android scanner verifies the hash at the turnstile; duplicate and expired passes are rejected.</a:t>
            </a:r>
            <a:endParaRPr lang="en-US" sz="820" dirty="0"/>
          </a:p>
        </p:txBody>
      </p:sp>
      <p:sp>
        <p:nvSpPr>
          <p:cNvPr id="59" name="Shape 56"/>
          <p:cNvSpPr/>
          <p:nvPr/>
        </p:nvSpPr>
        <p:spPr>
          <a:xfrm>
            <a:off x="6492240" y="329184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601968" y="3392424"/>
            <a:ext cx="256032" cy="256032"/>
          </a:xfrm>
          <a:prstGeom prst="ellipse">
            <a:avLst/>
          </a:prstGeom>
          <a:solidFill>
            <a:srgbClr val="17864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6601968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62" name="Text 59"/>
          <p:cNvSpPr txBox="1"/>
          <p:nvPr/>
        </p:nvSpPr>
        <p:spPr>
          <a:xfrm>
            <a:off x="6949440" y="334670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8211312" y="332841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console flags AT DOOR; e-prescription, lab order and EMR are written back.</a:t>
            </a:r>
            <a:endParaRPr lang="en-US" sz="820" dirty="0"/>
          </a:p>
        </p:txBody>
      </p:sp>
      <p:sp>
        <p:nvSpPr>
          <p:cNvPr id="64" name="Shape 61"/>
          <p:cNvSpPr/>
          <p:nvPr/>
        </p:nvSpPr>
        <p:spPr>
          <a:xfrm>
            <a:off x="6492240" y="3813048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6601968" y="3913632"/>
            <a:ext cx="256032" cy="256032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6601968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6949440" y="3867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8211312" y="384962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rates the visit; DPI recomputes and drives the automatic salary-bonus engine.</a:t>
            </a:r>
            <a:endParaRPr lang="en-US" sz="820" dirty="0"/>
          </a:p>
        </p:txBody>
      </p:sp>
      <p:sp>
        <p:nvSpPr>
          <p:cNvPr id="69" name="Shape 66"/>
          <p:cNvSpPr/>
          <p:nvPr/>
        </p:nvSpPr>
        <p:spPr>
          <a:xfrm>
            <a:off x="393192" y="4535424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pic>
        <p:nvPicPr>
          <p:cNvPr id="70" name="Image 1" descr="ic_Si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626864"/>
            <a:ext cx="365760" cy="365760"/>
          </a:xfrm>
          <a:prstGeom prst="rect">
            <a:avLst/>
          </a:prstGeom>
        </p:spPr>
      </p:pic>
      <p:sp>
        <p:nvSpPr>
          <p:cNvPr id="71" name="Text 67"/>
          <p:cNvSpPr txBox="1"/>
          <p:nvPr/>
        </p:nvSpPr>
        <p:spPr>
          <a:xfrm>
            <a:off x="566928" y="502920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pic>
        <p:nvPicPr>
          <p:cNvPr id="72" name="Image 2" descr="ic_SiTypescri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448" y="4626864"/>
            <a:ext cx="365760" cy="365760"/>
          </a:xfrm>
          <a:prstGeom prst="rect">
            <a:avLst/>
          </a:prstGeom>
        </p:spPr>
      </p:pic>
      <p:sp>
        <p:nvSpPr>
          <p:cNvPr id="73" name="Text 68"/>
          <p:cNvSpPr txBox="1"/>
          <p:nvPr/>
        </p:nvSpPr>
        <p:spPr>
          <a:xfrm>
            <a:off x="1956816" y="502920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pic>
        <p:nvPicPr>
          <p:cNvPr id="74" name="Image 3" descr="ic_SiTailwindc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36" y="4626864"/>
            <a:ext cx="365760" cy="365760"/>
          </a:xfrm>
          <a:prstGeom prst="rect">
            <a:avLst/>
          </a:prstGeom>
        </p:spPr>
      </p:pic>
      <p:sp>
        <p:nvSpPr>
          <p:cNvPr id="75" name="Text 69"/>
          <p:cNvSpPr txBox="1"/>
          <p:nvPr/>
        </p:nvSpPr>
        <p:spPr>
          <a:xfrm>
            <a:off x="3346704" y="502920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900" dirty="0"/>
          </a:p>
        </p:txBody>
      </p:sp>
      <p:pic>
        <p:nvPicPr>
          <p:cNvPr id="76" name="Image 4" descr="ic_SiFastap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1224" y="4626864"/>
            <a:ext cx="365760" cy="365760"/>
          </a:xfrm>
          <a:prstGeom prst="rect">
            <a:avLst/>
          </a:prstGeom>
        </p:spPr>
      </p:pic>
      <p:sp>
        <p:nvSpPr>
          <p:cNvPr id="77" name="Text 70"/>
          <p:cNvSpPr txBox="1"/>
          <p:nvPr/>
        </p:nvSpPr>
        <p:spPr>
          <a:xfrm>
            <a:off x="4736592" y="502920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pic>
        <p:nvPicPr>
          <p:cNvPr id="78" name="Image 5" descr="ic_SiSup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4626864"/>
            <a:ext cx="365760" cy="365760"/>
          </a:xfrm>
          <a:prstGeom prst="rect">
            <a:avLst/>
          </a:prstGeom>
        </p:spPr>
      </p:pic>
      <p:sp>
        <p:nvSpPr>
          <p:cNvPr id="79" name="Text 71"/>
          <p:cNvSpPr txBox="1"/>
          <p:nvPr/>
        </p:nvSpPr>
        <p:spPr>
          <a:xfrm>
            <a:off x="6126480" y="502920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pic>
        <p:nvPicPr>
          <p:cNvPr id="80" name="Image 6" descr="ic_SiKotl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4626864"/>
            <a:ext cx="365760" cy="365760"/>
          </a:xfrm>
          <a:prstGeom prst="rect">
            <a:avLst/>
          </a:prstGeom>
        </p:spPr>
      </p:pic>
      <p:sp>
        <p:nvSpPr>
          <p:cNvPr id="81" name="Text 72"/>
          <p:cNvSpPr txBox="1"/>
          <p:nvPr/>
        </p:nvSpPr>
        <p:spPr>
          <a:xfrm>
            <a:off x="7516368" y="502920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900" dirty="0"/>
          </a:p>
        </p:txBody>
      </p:sp>
      <p:pic>
        <p:nvPicPr>
          <p:cNvPr id="82" name="Image 7" descr="ic_SiAndro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0888" y="4626864"/>
            <a:ext cx="365760" cy="365760"/>
          </a:xfrm>
          <a:prstGeom prst="rect">
            <a:avLst/>
          </a:prstGeom>
        </p:spPr>
      </p:pic>
      <p:sp>
        <p:nvSpPr>
          <p:cNvPr id="83" name="Text 73"/>
          <p:cNvSpPr txBox="1"/>
          <p:nvPr/>
        </p:nvSpPr>
        <p:spPr>
          <a:xfrm>
            <a:off x="8906256" y="502920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/ CameraX</a:t>
            </a:r>
            <a:endParaRPr lang="en-US" sz="900" dirty="0"/>
          </a:p>
        </p:txBody>
      </p:sp>
      <p:pic>
        <p:nvPicPr>
          <p:cNvPr id="84" name="Image 8" descr="ic_SiScikitlear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80776" y="4626864"/>
            <a:ext cx="365760" cy="365760"/>
          </a:xfrm>
          <a:prstGeom prst="rect">
            <a:avLst/>
          </a:prstGeom>
        </p:spPr>
      </p:pic>
      <p:sp>
        <p:nvSpPr>
          <p:cNvPr id="85" name="Text 74"/>
          <p:cNvSpPr txBox="1"/>
          <p:nvPr/>
        </p:nvSpPr>
        <p:spPr>
          <a:xfrm>
            <a:off x="10296144" y="502920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91" name="Text 80"/>
          <p:cNvSpPr txBox="1"/>
          <p:nvPr/>
        </p:nvSpPr>
        <p:spPr>
          <a:xfrm>
            <a:off x="4023360" y="64830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92" name="Text 81"/>
          <p:cNvSpPr txBox="1"/>
          <p:nvPr/>
        </p:nvSpPr>
        <p:spPr>
          <a:xfrm>
            <a:off x="11155680" y="64830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A8AEDC93-9444-CFD4-5DEC-C99FCAB3C7D1}"/>
              </a:ext>
            </a:extLst>
          </p:cNvPr>
          <p:cNvSpPr/>
          <p:nvPr/>
        </p:nvSpPr>
        <p:spPr>
          <a:xfrm>
            <a:off x="384048" y="5673012"/>
            <a:ext cx="11256264" cy="8466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/>
              <a:t>One secure pipeline: AI Triage → Priority Token → Verified Gate → Consultation → Citizen-Verified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"/>
            <a:ext cx="1572768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5B4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12801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188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FEASIBILITY, CHALLENGES &amp; RISKS</a:t>
            </a:r>
            <a:endParaRPr lang="en-US" sz="2600" dirty="0"/>
          </a:p>
        </p:txBody>
      </p:sp>
      <p:pic>
        <p:nvPicPr>
          <p:cNvPr id="5" name="Image 0" descr="si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28016"/>
            <a:ext cx="484632" cy="5665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66960" y="109728"/>
            <a:ext cx="2011680" cy="621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32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" y="1298448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" y="1453896"/>
            <a:ext cx="219456" cy="219456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96112" y="1417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licence cost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17556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production-grade open technology — React, FastAPI, Supabase, Kotlin. No proprietary dependency, no per-seat fee.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3337560" y="1298448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83864" y="1453896"/>
            <a:ext cx="219456" cy="21945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776472" y="1417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Integrates, never replaces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502152" y="17556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sit on existing government rails — ABDM, Ayushman Bharat PM-JAY, UIDAI and UPI — instead of asking states to rip anything out.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457200" y="2633472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" y="2788920"/>
            <a:ext cx="219456" cy="219456"/>
          </a:xfrm>
          <a:prstGeom prst="ellipse">
            <a:avLst/>
          </a:prstGeom>
          <a:solidFill>
            <a:srgbClr val="17864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27523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Phased, modular rollout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21792" y="30906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surfaces mean a district can adopt the citizen portal first and add vigilance and gate hardware later.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3337560" y="2633472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483864" y="2788920"/>
            <a:ext cx="219456" cy="219456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776472" y="27523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built, not a mockup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502152" y="30906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v3.0.0 runs the full loop end to end: 19/19 backend tests green and all three portals build with zero TypeScript errors.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9326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Exposure Profile — team assessment</a:t>
            </a:r>
            <a:endParaRPr lang="en-US" sz="14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6172200" y="1261872"/>
          <a:ext cx="55321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457200" y="4114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 Strategy</a:t>
            </a:r>
            <a:endParaRPr lang="en-US" sz="1450" dirty="0"/>
          </a:p>
        </p:txBody>
      </p:sp>
      <p:sp>
        <p:nvSpPr>
          <p:cNvPr id="27" name="Shape 23"/>
          <p:cNvSpPr/>
          <p:nvPr/>
        </p:nvSpPr>
        <p:spPr>
          <a:xfrm>
            <a:off x="457200" y="4462272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DF3E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640080" y="4544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smartphone, no literacy, no signal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40080" y="4974336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fallback: SMS shortcode → toll-free IVR in 11 languages → ASHA / ANM or hospital counter-desk assisted booking. All three write to the same triage API and carry the same vulnerability weighting.</a:t>
            </a:r>
            <a:endParaRPr lang="en-US" sz="860" dirty="0"/>
          </a:p>
        </p:txBody>
      </p:sp>
      <p:sp>
        <p:nvSpPr>
          <p:cNvPr id="30" name="Shape 26"/>
          <p:cNvSpPr/>
          <p:nvPr/>
        </p:nvSpPr>
        <p:spPr>
          <a:xfrm>
            <a:off x="2240280" y="5779008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240280" y="5779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3337560" y="4462272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1F5F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3520440" y="4544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connectivity gaps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3520440" y="4974336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offline fallback — the backend switches to a local in-memory queue when Supabase is unreachable and reconciles on reconnect.</a:t>
            </a:r>
            <a:endParaRPr lang="en-US" sz="860" dirty="0"/>
          </a:p>
        </p:txBody>
      </p:sp>
      <p:sp>
        <p:nvSpPr>
          <p:cNvPr id="35" name="Shape 31"/>
          <p:cNvSpPr/>
          <p:nvPr/>
        </p:nvSpPr>
        <p:spPr>
          <a:xfrm>
            <a:off x="6217920" y="4462272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1F5F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6400800" y="4544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at OPD surge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400800" y="4974336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6-key Supabase pool round-robins traffic and isolates patient, doctor, observer and scanner chains from one another.</a:t>
            </a:r>
            <a:endParaRPr lang="en-US" sz="860" dirty="0"/>
          </a:p>
        </p:txBody>
      </p:sp>
      <p:sp>
        <p:nvSpPr>
          <p:cNvPr id="38" name="Shape 34"/>
          <p:cNvSpPr/>
          <p:nvPr/>
        </p:nvSpPr>
        <p:spPr>
          <a:xfrm>
            <a:off x="9098280" y="4462272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1F5F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9281160" y="4544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17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or coerced ratings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9281160" y="4974336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rating unlocks only against a scanned, completed consultation token — no verified visit means no review can exist.</a:t>
            </a:r>
            <a:endParaRPr lang="en-US" sz="860" dirty="0"/>
          </a:p>
        </p:txBody>
      </p:sp>
      <p:sp>
        <p:nvSpPr>
          <p:cNvPr id="42" name="Text 38"/>
          <p:cNvSpPr txBox="1"/>
          <p:nvPr/>
        </p:nvSpPr>
        <p:spPr>
          <a:xfrm>
            <a:off x="4023360" y="64830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11155680" y="64830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"/>
            <a:ext cx="1572768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5B4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12801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188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800" dirty="0"/>
          </a:p>
        </p:txBody>
      </p:sp>
      <p:pic>
        <p:nvPicPr>
          <p:cNvPr id="5" name="Image 0" descr="si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28016"/>
            <a:ext cx="484632" cy="5665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66960" y="109728"/>
            <a:ext cx="2011680" cy="621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1F5F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124712"/>
            <a:ext cx="274320" cy="274320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87552" y="108813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4173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an hours-long physical crowd into a tracked, ordered and fair digital queue</a:t>
            </a:r>
            <a:endParaRPr lang="en-US" sz="980" dirty="0"/>
          </a:p>
          <a:p>
            <a:pPr marL="342900" indent="-342900" algn="l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fast-tracking for emergency, senior, pregnant and differently-abled patients by design, not by discretion</a:t>
            </a:r>
            <a:endParaRPr lang="en-US" sz="980" dirty="0"/>
          </a:p>
          <a:p>
            <a:pPr marL="342900" indent="-342900" algn="l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citizens digital health usually misses — no smartphone, no literacy, no data plan</a:t>
            </a:r>
            <a:endParaRPr lang="en-US" sz="980" dirty="0"/>
          </a:p>
          <a:p>
            <a:pPr marL="342900" indent="-342900" algn="l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MoHFW live national visibility on hospital load, doctor conduct and open grievances</a:t>
            </a:r>
            <a:endParaRPr lang="en-US" sz="980" dirty="0"/>
          </a:p>
          <a:p>
            <a:pPr marL="342900" indent="-342900" algn="l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public trust in government hospitals and pulls patients back from costly private OPDs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57200" y="3273552"/>
            <a:ext cx="5486400" cy="2670048"/>
          </a:xfrm>
          <a:prstGeom prst="roundRect">
            <a:avLst>
              <a:gd name="adj" fmla="val 2740"/>
            </a:avLst>
          </a:prstGeom>
          <a:solidFill>
            <a:srgbClr val="FDF3E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" y="3438144"/>
            <a:ext cx="274320" cy="274320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87552" y="340156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instance — a user story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767328"/>
            <a:ext cx="50292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Kamla Devi, 58, lives 40 km from the district hospital. She has a feature phone and cannot read. She sends a two-word SMS to the SmartCare shortcode; the IVR calls back in Hindi and confirms her complaint. The server runs the same triage engine a smartphone user gets, applies her senior-citizen vulnerability boost, enqueues her, and texts back a token number and an arrival slot — so she travels once, at the right hour, instead of waiting from dawn. At the gate the counter desk verifies her token against the same SHA-256 record the Android scanner uses. She is seen, rated her doctor by IVR keypad, and that rating counts exactly as much as a city user's.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5074920" y="3383280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0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9601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09360" y="132588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73952" y="1472184"/>
            <a:ext cx="237744" cy="237744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03136" y="14264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176479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lives with guaranteed emergency escalation, and gives every citizen native-language access — including those with no smartphone at all.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6309360" y="23865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73952" y="2532888"/>
            <a:ext cx="237744" cy="237744"/>
          </a:xfrm>
          <a:prstGeom prst="ellipse">
            <a:avLst/>
          </a:prstGeom>
          <a:solidFill>
            <a:srgbClr val="123B6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03136" y="24871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282549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licence cost, recovers doctor-hours lost to queue chaos, and ties public payroll to measured performance.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6309360" y="3447288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73952" y="3593592"/>
            <a:ext cx="237744" cy="23774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803136" y="35478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38862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heatmaps and load-shedding move patients from choked hospitals to free capacity nearby, in real time.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6309360" y="45079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73952" y="4654296"/>
            <a:ext cx="237744" cy="237744"/>
          </a:xfrm>
          <a:prstGeom prst="ellipse">
            <a:avLst/>
          </a:prstGeom>
          <a:solidFill>
            <a:srgbClr val="17864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803136" y="46085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492240" y="4946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2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tokens, e-prescriptions and a digital health vault cut printing — and slot-based arrival removes wasted patient travel.</a:t>
            </a:r>
            <a:endParaRPr lang="en-US" sz="920" dirty="0"/>
          </a:p>
        </p:txBody>
      </p:sp>
      <p:sp>
        <p:nvSpPr>
          <p:cNvPr id="34" name="Text 31"/>
          <p:cNvSpPr txBox="1"/>
          <p:nvPr/>
        </p:nvSpPr>
        <p:spPr>
          <a:xfrm>
            <a:off x="6309360" y="55595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national programmes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309360" y="5852160"/>
            <a:ext cx="1143000" cy="365760"/>
          </a:xfrm>
          <a:prstGeom prst="roundRect">
            <a:avLst>
              <a:gd name="adj" fmla="val 47500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09360" y="58521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7571232" y="5852160"/>
            <a:ext cx="777240" cy="365760"/>
          </a:xfrm>
          <a:prstGeom prst="roundRect">
            <a:avLst>
              <a:gd name="adj" fmla="val 47500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571232" y="58521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8439912" y="5852160"/>
            <a:ext cx="868680" cy="365760"/>
          </a:xfrm>
          <a:prstGeom prst="roundRect">
            <a:avLst>
              <a:gd name="adj" fmla="val 47500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439912" y="58521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PM-JAY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9400032" y="5852160"/>
            <a:ext cx="868680" cy="365760"/>
          </a:xfrm>
          <a:prstGeom prst="roundRect">
            <a:avLst>
              <a:gd name="adj" fmla="val 47500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400032" y="58521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MoHFW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10360152" y="5852160"/>
            <a:ext cx="1234440" cy="365760"/>
          </a:xfrm>
          <a:prstGeom prst="roundRect">
            <a:avLst>
              <a:gd name="adj" fmla="val 47500"/>
            </a:avLst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360152" y="5852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/ ANM</a:t>
            </a:r>
            <a:endParaRPr lang="en-US" sz="880" dirty="0"/>
          </a:p>
        </p:txBody>
      </p:sp>
      <p:sp>
        <p:nvSpPr>
          <p:cNvPr id="46" name="Text 43"/>
          <p:cNvSpPr txBox="1"/>
          <p:nvPr/>
        </p:nvSpPr>
        <p:spPr>
          <a:xfrm>
            <a:off x="4272861" y="6519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1155680" y="64830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"/>
            <a:ext cx="1572768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5B4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12801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188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800" dirty="0"/>
          </a:p>
        </p:txBody>
      </p:sp>
      <p:pic>
        <p:nvPicPr>
          <p:cNvPr id="5" name="Image 0" descr="si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28016"/>
            <a:ext cx="484632" cy="5665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966960" y="109728"/>
            <a:ext cx="2011680" cy="621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b="1" kern="0" spc="4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32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Research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316736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MoHFW patient-flow and OPD congestion guidance for public hospitals informed the queue and counter-desk design.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Emergency Severity Index five-level acuity model was adapted into the triage engine, with an override tier so ESI-1 and ESI-2 cases can never be outranked by accumulated waiting time.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health-data interoperability standards shaped the EMR, e-prescription and digital health vault schema.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Priority-queueing literature was extended with a vulnerability weighting for senior, pregnant and differently-abled citizens.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Health Helpline (104) and Kisan Call Centre show that SMS and IVR remain the only reliable digital reach into feature-phone rural India — this shaped the Phase 2 access tier.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single-use QR validation was studied to defeat “ghost token” resale and queue-jumping at the gate.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9326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References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3167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601968" y="131673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Health &amp; Family Welfare, Government of India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601968" y="1536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https://mohfw.gov.in</a:t>
            </a:r>
            <a:endParaRPr lang="en-US" sz="92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18470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01968" y="18470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Digital Mission (ABDM)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20665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https://abdm.gov.in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3774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601968" y="23774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PM-JAY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2596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https://pmjay.gov.in</a:t>
            </a:r>
            <a:endParaRPr lang="en-US" sz="92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9077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601968" y="29077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Severity Index (ESI) triage acuity framework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601968" y="31272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for Healthcare Research and Quality</a:t>
            </a:r>
            <a:endParaRPr lang="en-US" sz="92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343814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34381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Helpline 104 — IVR health-access precedent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601968" y="36576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Health &amp; Family Welfare</a:t>
            </a:r>
            <a:endParaRPr lang="en-US" sz="92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39684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601968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 regulations on shortcodes and commercial communication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601968" y="41879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Regulatory Authority of India</a:t>
            </a:r>
            <a:endParaRPr lang="en-US" sz="920" dirty="0"/>
          </a:p>
        </p:txBody>
      </p:sp>
      <p:sp>
        <p:nvSpPr>
          <p:cNvPr id="28" name="Text 25"/>
          <p:cNvSpPr txBox="1"/>
          <p:nvPr/>
        </p:nvSpPr>
        <p:spPr>
          <a:xfrm>
            <a:off x="6309360" y="44988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601968" y="44988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 open-source repository (MIT licence)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47183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github.com/RONAK-PANDEY/SIH-SMART-INDIAN-HACTHON-2026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457200" y="512064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1F5FA"/>
          </a:solidFill>
          <a:ln w="12700">
            <a:solidFill>
              <a:srgbClr val="C9D6E5"/>
            </a:solidFill>
            <a:prstDash val="solid"/>
          </a:ln>
          <a:effectLst>
            <a:outerShdw blurRad="762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85800" y="5193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60-second demo loop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685800" y="544982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(:5173) generates a triaged QR token  →  Android turnstile scan hits the gateway (:8000)  →  Doctor Console (:5174) shows AT DOOR and completes the consultation  →  Government Vigilance Console (:5175) updates the Doctor Performance Index and recomputes the salary bonus — the entire citizen-to-payroll loop, live, in under a minute.</a:t>
            </a:r>
            <a:endParaRPr lang="en-US" sz="960" dirty="0"/>
          </a:p>
        </p:txBody>
      </p:sp>
      <p:sp>
        <p:nvSpPr>
          <p:cNvPr id="35" name="Text 32"/>
          <p:cNvSpPr txBox="1"/>
          <p:nvPr/>
        </p:nvSpPr>
        <p:spPr>
          <a:xfrm>
            <a:off x="4023360" y="64830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1155680" y="64830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1719</Words>
  <Application>Microsoft Office PowerPoint</Application>
  <PresentationFormat>Widescreen</PresentationFormat>
  <Paragraphs>219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SmartCare - SIH 2026</dc:title>
  <dc:subject>PptxGenJS Presentation</dc:subject>
  <dc:creator>Quantum Coders</dc:creator>
  <cp:lastModifiedBy>Kartik Agarwal</cp:lastModifiedBy>
  <cp:revision>5</cp:revision>
  <dcterms:created xsi:type="dcterms:W3CDTF">2026-09-09T10:07:44Z</dcterms:created>
  <dcterms:modified xsi:type="dcterms:W3CDTF">2026-09-10T08:31:21Z</dcterms:modified>
</cp:coreProperties>
</file>